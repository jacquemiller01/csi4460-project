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6e8b736f5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6e8b736f5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6e8b736f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6e8b736f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6e8b736f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6e8b736f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6e8b736f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6e8b736f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6e8b736f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6e8b736f5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6e8b736f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6e8b736f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6e8b736f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6e8b736f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6e8b736f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6e8b736f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6e8b736f5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6e8b736f5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2044700"/>
            <a:ext cx="8222100" cy="1892400"/>
          </a:xfrm>
          <a:prstGeom prst="rect">
            <a:avLst/>
          </a:prstGeom>
        </p:spPr>
        <p:txBody>
          <a:bodyPr anchorCtr="0" anchor="b" bIns="91425" lIns="91425" spcFirstLastPara="1" rIns="91425" wrap="square" tIns="91425">
            <a:noAutofit/>
          </a:bodyPr>
          <a:lstStyle/>
          <a:p>
            <a:pPr indent="0" lvl="0" marL="0" rtl="0" algn="l">
              <a:lnSpc>
                <a:spcPct val="115000"/>
              </a:lnSpc>
              <a:spcBef>
                <a:spcPts val="1200"/>
              </a:spcBef>
              <a:spcAft>
                <a:spcPts val="0"/>
              </a:spcAft>
              <a:buNone/>
            </a:pPr>
            <a:r>
              <a:t/>
            </a:r>
            <a:endParaRPr sz="2380"/>
          </a:p>
          <a:p>
            <a:pPr indent="0" lvl="0" marL="0" rtl="0" algn="l">
              <a:lnSpc>
                <a:spcPct val="115000"/>
              </a:lnSpc>
              <a:spcBef>
                <a:spcPts val="1200"/>
              </a:spcBef>
              <a:spcAft>
                <a:spcPts val="0"/>
              </a:spcAft>
              <a:buNone/>
            </a:pPr>
            <a:r>
              <a:t/>
            </a:r>
            <a:endParaRPr sz="2380"/>
          </a:p>
          <a:p>
            <a:pPr indent="0" lvl="0" marL="0" rtl="0" algn="ctr">
              <a:lnSpc>
                <a:spcPct val="115000"/>
              </a:lnSpc>
              <a:spcBef>
                <a:spcPts val="1200"/>
              </a:spcBef>
              <a:spcAft>
                <a:spcPts val="0"/>
              </a:spcAft>
              <a:buNone/>
            </a:pPr>
            <a:r>
              <a:rPr lang="en-GB" sz="2480">
                <a:latin typeface="Arial"/>
                <a:ea typeface="Arial"/>
                <a:cs typeface="Arial"/>
                <a:sym typeface="Arial"/>
              </a:rPr>
              <a:t>MLP Based Intrusion Detection System for Network Traffic</a:t>
            </a:r>
            <a:endParaRPr sz="2480">
              <a:latin typeface="Arial"/>
              <a:ea typeface="Arial"/>
              <a:cs typeface="Arial"/>
              <a:sym typeface="Arial"/>
            </a:endParaRPr>
          </a:p>
          <a:p>
            <a:pPr indent="0" lvl="0" marL="0" rtl="0" algn="l">
              <a:lnSpc>
                <a:spcPct val="115000"/>
              </a:lnSpc>
              <a:spcBef>
                <a:spcPts val="1200"/>
              </a:spcBef>
              <a:spcAft>
                <a:spcPts val="0"/>
              </a:spcAft>
              <a:buSzPts val="990"/>
              <a:buNone/>
            </a:pPr>
            <a:r>
              <a:t/>
            </a:r>
            <a:endParaRPr sz="2380"/>
          </a:p>
          <a:p>
            <a:pPr indent="0" lvl="0" marL="0" rtl="0" algn="l">
              <a:spcBef>
                <a:spcPts val="1200"/>
              </a:spcBef>
              <a:spcAft>
                <a:spcPts val="0"/>
              </a:spcAft>
              <a:buSzPts val="990"/>
              <a:buNone/>
            </a:pPr>
            <a:r>
              <a:t/>
            </a:r>
            <a:endParaRPr sz="1280"/>
          </a:p>
        </p:txBody>
      </p:sp>
      <p:sp>
        <p:nvSpPr>
          <p:cNvPr id="86" name="Google Shape;86;p13"/>
          <p:cNvSpPr txBox="1"/>
          <p:nvPr>
            <p:ph idx="1" type="subTitle"/>
          </p:nvPr>
        </p:nvSpPr>
        <p:spPr>
          <a:xfrm>
            <a:off x="1360100" y="2931826"/>
            <a:ext cx="8222100" cy="420900"/>
          </a:xfrm>
          <a:prstGeom prst="rect">
            <a:avLst/>
          </a:prstGeom>
        </p:spPr>
        <p:txBody>
          <a:bodyPr anchorCtr="0" anchor="t" bIns="91425" lIns="91425" spcFirstLastPara="1" rIns="91425" wrap="square" tIns="91425">
            <a:normAutofit fontScale="62500"/>
          </a:bodyPr>
          <a:lstStyle/>
          <a:p>
            <a:pPr indent="0" lvl="0" marL="0" rtl="0" algn="l">
              <a:lnSpc>
                <a:spcPct val="115000"/>
              </a:lnSpc>
              <a:spcBef>
                <a:spcPts val="1200"/>
              </a:spcBef>
              <a:spcAft>
                <a:spcPts val="1200"/>
              </a:spcAft>
              <a:buClr>
                <a:srgbClr val="000000"/>
              </a:buClr>
              <a:buSzPct val="41596"/>
              <a:buFont typeface="Arial"/>
              <a:buNone/>
            </a:pPr>
            <a:r>
              <a:rPr lang="en-GB" sz="2380"/>
              <a:t>By: Jacque </a:t>
            </a:r>
            <a:r>
              <a:rPr lang="en-GB" sz="2380"/>
              <a:t>Miller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t>Security &amp; Privacy Issues</a:t>
            </a:r>
            <a:endParaRPr b="1"/>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92" name="Google Shape;92;p14"/>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900"/>
              <a:t>Security &amp; Privacy Issues:</a:t>
            </a:r>
            <a:endParaRPr sz="1900"/>
          </a:p>
          <a:p>
            <a:pPr indent="-304800" lvl="0" marL="457200" rtl="0" algn="l">
              <a:spcBef>
                <a:spcPts val="1200"/>
              </a:spcBef>
              <a:spcAft>
                <a:spcPts val="0"/>
              </a:spcAft>
              <a:buClr>
                <a:srgbClr val="000000"/>
              </a:buClr>
              <a:buSzPts val="1200"/>
              <a:buFont typeface="Arial"/>
              <a:buChar char="●"/>
            </a:pPr>
            <a:r>
              <a:rPr lang="en-GB" sz="1900"/>
              <a:t>Evolving attacks evade rule based systems.</a:t>
            </a:r>
            <a:endParaRPr sz="1900"/>
          </a:p>
          <a:p>
            <a:pPr indent="-304800" lvl="0" marL="457200" rtl="0" algn="l">
              <a:spcBef>
                <a:spcPts val="0"/>
              </a:spcBef>
              <a:spcAft>
                <a:spcPts val="0"/>
              </a:spcAft>
              <a:buClr>
                <a:srgbClr val="000000"/>
              </a:buClr>
              <a:buSzPts val="1200"/>
              <a:buFont typeface="Arial"/>
              <a:buChar char="●"/>
            </a:pPr>
            <a:r>
              <a:rPr lang="en-GB" sz="1900"/>
              <a:t>Privacy concerns: Network traffic data often includes sensitive user information, risking leaks during analysis.</a:t>
            </a:r>
            <a:endParaRPr sz="1900"/>
          </a:p>
          <a:p>
            <a:pPr indent="-304800" lvl="0" marL="457200" rtl="0" algn="l">
              <a:spcBef>
                <a:spcPts val="0"/>
              </a:spcBef>
              <a:spcAft>
                <a:spcPts val="0"/>
              </a:spcAft>
              <a:buClr>
                <a:srgbClr val="000000"/>
              </a:buClr>
              <a:buSzPts val="1200"/>
              <a:buFont typeface="Arial"/>
              <a:buChar char="●"/>
            </a:pPr>
            <a:r>
              <a:rPr lang="en-GB" sz="1900"/>
              <a:t>Imbalanced datasets lead to biased models favoring normal traffic.</a:t>
            </a:r>
            <a:endParaRPr sz="1900"/>
          </a:p>
          <a:p>
            <a:pPr indent="0" lvl="0" marL="0" rtl="0" algn="l">
              <a:spcBef>
                <a:spcPts val="1200"/>
              </a:spcBef>
              <a:spcAft>
                <a:spcPts val="1200"/>
              </a:spcAft>
              <a:buNone/>
            </a:pPr>
            <a:r>
              <a:t/>
            </a:r>
            <a:endParaRPr/>
          </a:p>
        </p:txBody>
      </p:sp>
      <p:pic>
        <p:nvPicPr>
          <p:cNvPr id="93" name="Google Shape;93;p14" title="Ci7yxv-WEAIN0vZ.jpg"/>
          <p:cNvPicPr preferRelativeResize="0"/>
          <p:nvPr/>
        </p:nvPicPr>
        <p:blipFill>
          <a:blip r:embed="rId3">
            <a:alphaModFix/>
          </a:blip>
          <a:stretch>
            <a:fillRect/>
          </a:stretch>
        </p:blipFill>
        <p:spPr>
          <a:xfrm>
            <a:off x="3479713" y="3166925"/>
            <a:ext cx="2184575" cy="1612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t>Problem Statement</a:t>
            </a:r>
            <a:endParaRPr b="1"/>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99" name="Google Shape;99;p15"/>
          <p:cNvSpPr txBox="1"/>
          <p:nvPr>
            <p:ph idx="1" type="body"/>
          </p:nvPr>
        </p:nvSpPr>
        <p:spPr>
          <a:xfrm>
            <a:off x="311700" y="1761900"/>
            <a:ext cx="8520600" cy="2807100"/>
          </a:xfrm>
          <a:prstGeom prst="rect">
            <a:avLst/>
          </a:prstGeom>
        </p:spPr>
        <p:txBody>
          <a:bodyPr anchorCtr="0" anchor="t" bIns="91425" lIns="91425" spcFirstLastPara="1" rIns="91425" wrap="square" tIns="91425">
            <a:normAutofit/>
          </a:bodyPr>
          <a:lstStyle/>
          <a:p>
            <a:pPr indent="-336550" lvl="0" marL="457200" rtl="0" algn="l">
              <a:spcBef>
                <a:spcPts val="1200"/>
              </a:spcBef>
              <a:spcAft>
                <a:spcPts val="0"/>
              </a:spcAft>
              <a:buClr>
                <a:srgbClr val="000000"/>
              </a:buClr>
              <a:buSzPts val="1700"/>
              <a:buFont typeface="Arial"/>
              <a:buChar char="●"/>
            </a:pPr>
            <a:r>
              <a:rPr lang="en-GB" sz="1700">
                <a:solidFill>
                  <a:srgbClr val="000000"/>
                </a:solidFill>
                <a:latin typeface="Arial"/>
                <a:ea typeface="Arial"/>
                <a:cs typeface="Arial"/>
                <a:sym typeface="Arial"/>
              </a:rPr>
              <a:t>Problem Statement: Develop an adaptive Intrusion Detection System  using a Multi Layer Perceptron neural network to classify network traffic as normal or intrusive, addressing limitations of traditional systems in handling dynamic threats on datasets like NSL-KDD.</a:t>
            </a:r>
            <a:endParaRPr sz="1700">
              <a:solidFill>
                <a:srgbClr val="000000"/>
              </a:solidFill>
              <a:latin typeface="Arial"/>
              <a:ea typeface="Arial"/>
              <a:cs typeface="Arial"/>
              <a:sym typeface="Arial"/>
            </a:endParaRPr>
          </a:p>
          <a:p>
            <a:pPr indent="0" lvl="0" marL="0" rtl="0" algn="l">
              <a:spcBef>
                <a:spcPts val="1200"/>
              </a:spcBef>
              <a:spcAft>
                <a:spcPts val="1200"/>
              </a:spcAft>
              <a:buNone/>
            </a:pPr>
            <a:r>
              <a:t/>
            </a:r>
            <a:endParaRPr b="1" sz="110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t>Why the Problem is Important?</a:t>
            </a:r>
            <a:endParaRPr b="1"/>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05" name="Google Shape;105;p16"/>
          <p:cNvSpPr txBox="1"/>
          <p:nvPr>
            <p:ph idx="1" type="body"/>
          </p:nvPr>
        </p:nvSpPr>
        <p:spPr>
          <a:xfrm>
            <a:off x="311700" y="1427350"/>
            <a:ext cx="8520600" cy="3141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Prevents data breaches and financial losses</a:t>
            </a:r>
            <a:endParaRPr/>
          </a:p>
          <a:p>
            <a:pPr indent="-342900" lvl="0" marL="457200" rtl="0" algn="l">
              <a:spcBef>
                <a:spcPts val="0"/>
              </a:spcBef>
              <a:spcAft>
                <a:spcPts val="0"/>
              </a:spcAft>
              <a:buSzPts val="1800"/>
              <a:buChar char="●"/>
            </a:pPr>
            <a:r>
              <a:rPr lang="en-GB"/>
              <a:t>Protects critical infrastructure from evolving threats like DDoS.</a:t>
            </a:r>
            <a:endParaRPr/>
          </a:p>
          <a:p>
            <a:pPr indent="-342900" lvl="0" marL="457200" rtl="0" algn="l">
              <a:spcBef>
                <a:spcPts val="0"/>
              </a:spcBef>
              <a:spcAft>
                <a:spcPts val="0"/>
              </a:spcAft>
              <a:buSzPts val="1800"/>
              <a:buChar char="●"/>
            </a:pPr>
            <a:r>
              <a:rPr lang="en-GB"/>
              <a:t>Advances ML in cybersecurity, enabling real time detection in growing IoT networks.</a:t>
            </a:r>
            <a:endParaRPr/>
          </a:p>
          <a:p>
            <a:pPr indent="-342900" lvl="0" marL="457200" rtl="0" algn="l">
              <a:spcBef>
                <a:spcPts val="0"/>
              </a:spcBef>
              <a:spcAft>
                <a:spcPts val="0"/>
              </a:spcAft>
              <a:buSzPts val="1800"/>
              <a:buChar char="●"/>
            </a:pPr>
            <a:r>
              <a:rPr lang="en-GB"/>
              <a:t>Educational value: Demonstrates practical application of neural networks.</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06" name="Google Shape;106;p16" title="cybercrime-clock-graphic.jpg"/>
          <p:cNvPicPr preferRelativeResize="0"/>
          <p:nvPr/>
        </p:nvPicPr>
        <p:blipFill>
          <a:blip r:embed="rId3">
            <a:alphaModFix/>
          </a:blip>
          <a:stretch>
            <a:fillRect/>
          </a:stretch>
        </p:blipFill>
        <p:spPr>
          <a:xfrm>
            <a:off x="3166951" y="3125175"/>
            <a:ext cx="3100026" cy="1743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t>What are the Challenges of the Problem?</a:t>
            </a:r>
            <a:endParaRPr b="1"/>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12" name="Google Shape;112;p17"/>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rgbClr val="000000"/>
              </a:buClr>
              <a:buSzPts val="1700"/>
              <a:buFont typeface="Arial"/>
              <a:buChar char="●"/>
            </a:pPr>
            <a:r>
              <a:rPr lang="en-GB" sz="1700">
                <a:solidFill>
                  <a:srgbClr val="000000"/>
                </a:solidFill>
                <a:latin typeface="Arial"/>
                <a:ea typeface="Arial"/>
                <a:cs typeface="Arial"/>
                <a:sym typeface="Arial"/>
              </a:rPr>
              <a:t>Imbalanced data: Normal traffic dominates, leading to biased models.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GB" sz="1700">
                <a:solidFill>
                  <a:srgbClr val="000000"/>
                </a:solidFill>
                <a:latin typeface="Arial"/>
                <a:ea typeface="Arial"/>
                <a:cs typeface="Arial"/>
                <a:sym typeface="Arial"/>
              </a:rPr>
              <a:t>Real time processing: High computational demands for large scale networks.</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GB" sz="1700">
                <a:solidFill>
                  <a:srgbClr val="000000"/>
                </a:solidFill>
                <a:latin typeface="Arial"/>
                <a:ea typeface="Arial"/>
                <a:cs typeface="Arial"/>
                <a:sym typeface="Arial"/>
              </a:rPr>
              <a:t>Evolving threats: Models must adapt to new attack types without constant retraining.</a:t>
            </a:r>
            <a:endParaRPr sz="1700">
              <a:solidFill>
                <a:srgbClr val="000000"/>
              </a:solidFill>
              <a:latin typeface="Arial"/>
              <a:ea typeface="Arial"/>
              <a:cs typeface="Arial"/>
              <a:sym typeface="Arial"/>
            </a:endParaRPr>
          </a:p>
          <a:p>
            <a:pPr indent="-336550" lvl="0" marL="457200" rtl="0" algn="l">
              <a:spcBef>
                <a:spcPts val="0"/>
              </a:spcBef>
              <a:spcAft>
                <a:spcPts val="0"/>
              </a:spcAft>
              <a:buClr>
                <a:srgbClr val="000000"/>
              </a:buClr>
              <a:buSzPts val="1700"/>
              <a:buFont typeface="Arial"/>
              <a:buChar char="●"/>
            </a:pPr>
            <a:r>
              <a:rPr lang="en-GB" sz="1700">
                <a:solidFill>
                  <a:srgbClr val="000000"/>
                </a:solidFill>
                <a:latin typeface="Arial"/>
                <a:ea typeface="Arial"/>
                <a:cs typeface="Arial"/>
                <a:sym typeface="Arial"/>
              </a:rPr>
              <a:t>Overfitting: Neural networks can memorize training data instead of generalizing.</a:t>
            </a:r>
            <a:endParaRPr sz="1700">
              <a:solidFill>
                <a:srgbClr val="000000"/>
              </a:solidFill>
              <a:latin typeface="Arial"/>
              <a:ea typeface="Arial"/>
              <a:cs typeface="Arial"/>
              <a:sym typeface="Arial"/>
            </a:endParaRPr>
          </a:p>
          <a:p>
            <a:pPr indent="0" lvl="0" marL="0" rtl="0" algn="l">
              <a:spcBef>
                <a:spcPts val="0"/>
              </a:spcBef>
              <a:spcAft>
                <a:spcPts val="1200"/>
              </a:spcAft>
              <a:buNone/>
            </a:pPr>
            <a:r>
              <a:t/>
            </a:r>
            <a:endParaRPr b="1" sz="1100">
              <a:solidFill>
                <a:srgbClr val="000000"/>
              </a:solidFill>
              <a:latin typeface="Arial"/>
              <a:ea typeface="Arial"/>
              <a:cs typeface="Arial"/>
              <a:sym typeface="Arial"/>
            </a:endParaRPr>
          </a:p>
        </p:txBody>
      </p:sp>
      <p:pic>
        <p:nvPicPr>
          <p:cNvPr id="113" name="Google Shape;113;p17" title="NSL-KDD-dataset-distribution.png"/>
          <p:cNvPicPr preferRelativeResize="0"/>
          <p:nvPr/>
        </p:nvPicPr>
        <p:blipFill>
          <a:blip r:embed="rId3">
            <a:alphaModFix/>
          </a:blip>
          <a:stretch>
            <a:fillRect/>
          </a:stretch>
        </p:blipFill>
        <p:spPr>
          <a:xfrm>
            <a:off x="2872688" y="2918300"/>
            <a:ext cx="3398625" cy="1923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a:t>What are the Proposed Solutions by Others?</a:t>
            </a:r>
            <a:endParaRPr b="1"/>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19" name="Google Shape;119;p18"/>
          <p:cNvSpPr txBox="1"/>
          <p:nvPr>
            <p:ph idx="1" type="body"/>
          </p:nvPr>
        </p:nvSpPr>
        <p:spPr>
          <a:xfrm>
            <a:off x="311700" y="1229875"/>
            <a:ext cx="4086000" cy="3339000"/>
          </a:xfrm>
          <a:prstGeom prst="rect">
            <a:avLst/>
          </a:prstGeom>
        </p:spPr>
        <p:txBody>
          <a:bodyPr anchorCtr="0" anchor="t" bIns="91425" lIns="91425" spcFirstLastPara="1" rIns="91425" wrap="square" tIns="91425">
            <a:normAutofit/>
          </a:bodyPr>
          <a:lstStyle/>
          <a:p>
            <a:pPr indent="-330200" lvl="0" marL="457200" rtl="0" algn="l">
              <a:spcBef>
                <a:spcPts val="1200"/>
              </a:spcBef>
              <a:spcAft>
                <a:spcPts val="0"/>
              </a:spcAft>
              <a:buClr>
                <a:srgbClr val="000000"/>
              </a:buClr>
              <a:buSzPts val="1600"/>
              <a:buFont typeface="Arial"/>
              <a:buChar char="●"/>
            </a:pPr>
            <a:r>
              <a:rPr lang="en-GB" sz="1600">
                <a:solidFill>
                  <a:srgbClr val="000000"/>
                </a:solidFill>
                <a:latin typeface="Arial"/>
                <a:ea typeface="Arial"/>
                <a:cs typeface="Arial"/>
                <a:sym typeface="Arial"/>
              </a:rPr>
              <a:t>SVM based IDS: Support Vector Machines for classification.</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CNN for traffic analysis: Convolutional Neural Networks treat traffic as images. Which are effective for pattern recognition.</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GB" sz="1600">
                <a:solidFill>
                  <a:srgbClr val="000000"/>
                </a:solidFill>
                <a:latin typeface="Arial"/>
                <a:ea typeface="Arial"/>
                <a:cs typeface="Arial"/>
                <a:sym typeface="Arial"/>
              </a:rPr>
              <a:t>Surveys: "Deep Learning Approaches for Intrusion Detection" by Ferrag et al. (2020).</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b="1" sz="1100">
              <a:solidFill>
                <a:srgbClr val="000000"/>
              </a:solidFill>
              <a:latin typeface="Arial"/>
              <a:ea typeface="Arial"/>
              <a:cs typeface="Arial"/>
              <a:sym typeface="Arial"/>
            </a:endParaRPr>
          </a:p>
        </p:txBody>
      </p:sp>
      <p:pic>
        <p:nvPicPr>
          <p:cNvPr id="120" name="Google Shape;120;p18" title="1*KFQI59Yv7m1f3fwG68KSEA.jpg"/>
          <p:cNvPicPr preferRelativeResize="0"/>
          <p:nvPr/>
        </p:nvPicPr>
        <p:blipFill>
          <a:blip r:embed="rId3">
            <a:alphaModFix/>
          </a:blip>
          <a:stretch>
            <a:fillRect/>
          </a:stretch>
        </p:blipFill>
        <p:spPr>
          <a:xfrm>
            <a:off x="5381000" y="988925"/>
            <a:ext cx="3110187" cy="3820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en-GB" sz="3044">
                <a:latin typeface="Arial"/>
                <a:ea typeface="Arial"/>
                <a:cs typeface="Arial"/>
                <a:sym typeface="Arial"/>
              </a:rPr>
              <a:t>What’s My Solution?</a:t>
            </a:r>
            <a:endParaRPr b="1" sz="3044">
              <a:latin typeface="Arial"/>
              <a:ea typeface="Arial"/>
              <a:cs typeface="Arial"/>
              <a:sym typeface="Arial"/>
            </a:endParaRPr>
          </a:p>
          <a:p>
            <a:pPr indent="0" lvl="0" marL="0" rtl="0" algn="l">
              <a:lnSpc>
                <a:spcPct val="115000"/>
              </a:lnSpc>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200"/>
              </a:spcBef>
              <a:spcAft>
                <a:spcPts val="0"/>
              </a:spcAft>
              <a:buNone/>
            </a:pPr>
            <a:r>
              <a:t/>
            </a:r>
            <a:endParaRPr/>
          </a:p>
        </p:txBody>
      </p:sp>
      <p:sp>
        <p:nvSpPr>
          <p:cNvPr id="126" name="Google Shape;126;p19"/>
          <p:cNvSpPr txBox="1"/>
          <p:nvPr>
            <p:ph idx="1" type="body"/>
          </p:nvPr>
        </p:nvSpPr>
        <p:spPr>
          <a:xfrm>
            <a:off x="311700" y="1229875"/>
            <a:ext cx="8520600" cy="2620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solidFill>
                  <a:srgbClr val="000000"/>
                </a:solidFill>
                <a:latin typeface="Arial"/>
                <a:ea typeface="Arial"/>
                <a:cs typeface="Arial"/>
                <a:sym typeface="Arial"/>
              </a:rPr>
              <a:t>My Solution:</a:t>
            </a:r>
            <a:endParaRPr>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a:solidFill>
                  <a:srgbClr val="000000"/>
                </a:solidFill>
                <a:latin typeface="Arial"/>
                <a:ea typeface="Arial"/>
                <a:cs typeface="Arial"/>
                <a:sym typeface="Arial"/>
              </a:rPr>
              <a:t>MLP neural network with 2 hidden layers, using scikit-learn's MLPClassifier.</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Preprocessing: Label encoding for categoricals, StandardScaler for features, binary classification.</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Trained on NSL-KDD dataset.</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Hyperparameters: max_iter = 200, random_state = 42.</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a:solidFill>
                  <a:srgbClr val="000000"/>
                </a:solidFill>
                <a:latin typeface="Arial"/>
                <a:ea typeface="Arial"/>
                <a:cs typeface="Arial"/>
                <a:sym typeface="Arial"/>
              </a:rPr>
              <a:t>Evaluation focused on accuracy, precision, recall from confusion matrix.</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Arial"/>
              <a:ea typeface="Arial"/>
              <a:cs typeface="Arial"/>
              <a:sym typeface="Arial"/>
            </a:endParaRPr>
          </a:p>
        </p:txBody>
      </p:sp>
      <p:pic>
        <p:nvPicPr>
          <p:cNvPr id="127" name="Google Shape;127;p19" title="Architecture-of-Multi-Layer-Perceptron.png"/>
          <p:cNvPicPr preferRelativeResize="0"/>
          <p:nvPr/>
        </p:nvPicPr>
        <p:blipFill rotWithShape="1">
          <a:blip r:embed="rId3">
            <a:alphaModFix/>
          </a:blip>
          <a:srcRect b="-81422" l="0" r="-81422" t="0"/>
          <a:stretch/>
        </p:blipFill>
        <p:spPr>
          <a:xfrm>
            <a:off x="2845900" y="3364150"/>
            <a:ext cx="3926501" cy="2512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t>Results</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33" name="Google Shape;133;p20"/>
          <p:cNvSpPr txBox="1"/>
          <p:nvPr>
            <p:ph idx="1" type="body"/>
          </p:nvPr>
        </p:nvSpPr>
        <p:spPr>
          <a:xfrm>
            <a:off x="311700" y="1229875"/>
            <a:ext cx="3863100" cy="2431200"/>
          </a:xfrm>
          <a:prstGeom prst="rect">
            <a:avLst/>
          </a:prstGeom>
        </p:spPr>
        <p:txBody>
          <a:bodyPr anchorCtr="0" anchor="t" bIns="91425" lIns="91425" spcFirstLastPara="1" rIns="91425" wrap="square" tIns="91425">
            <a:normAutofit fontScale="70000" lnSpcReduction="10000"/>
          </a:bodyPr>
          <a:lstStyle/>
          <a:p>
            <a:pPr indent="-317500" lvl="0" marL="457200" rtl="0" algn="l">
              <a:spcBef>
                <a:spcPts val="0"/>
              </a:spcBef>
              <a:spcAft>
                <a:spcPts val="0"/>
              </a:spcAft>
              <a:buClr>
                <a:srgbClr val="000000"/>
              </a:buClr>
              <a:buSzPct val="100000"/>
              <a:buFont typeface="Arial"/>
              <a:buChar char="●"/>
            </a:pPr>
            <a:r>
              <a:rPr lang="en-GB" sz="2000">
                <a:solidFill>
                  <a:srgbClr val="000000"/>
                </a:solidFill>
                <a:latin typeface="Arial"/>
                <a:ea typeface="Arial"/>
                <a:cs typeface="Arial"/>
                <a:sym typeface="Arial"/>
              </a:rPr>
              <a:t>Accuracy: 78% correct classifications on test set.</a:t>
            </a:r>
            <a:endParaRPr sz="20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ct val="100000"/>
              <a:buFont typeface="Arial"/>
              <a:buChar char="●"/>
            </a:pPr>
            <a:r>
              <a:rPr lang="en-GB" sz="2000">
                <a:solidFill>
                  <a:srgbClr val="000000"/>
                </a:solidFill>
                <a:latin typeface="Arial"/>
                <a:ea typeface="Arial"/>
                <a:cs typeface="Arial"/>
                <a:sym typeface="Arial"/>
              </a:rPr>
              <a:t>Precision: 97% of detected attacks were true positives.</a:t>
            </a:r>
            <a:endParaRPr sz="20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ct val="100000"/>
              <a:buFont typeface="Arial"/>
              <a:buChar char="●"/>
            </a:pPr>
            <a:r>
              <a:rPr lang="en-GB" sz="2000">
                <a:solidFill>
                  <a:srgbClr val="000000"/>
                </a:solidFill>
                <a:latin typeface="Arial"/>
                <a:ea typeface="Arial"/>
                <a:cs typeface="Arial"/>
                <a:sym typeface="Arial"/>
              </a:rPr>
              <a:t>Recall: 63% of actual attacks detected.</a:t>
            </a:r>
            <a:endParaRPr sz="20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ct val="100000"/>
              <a:buFont typeface="Arial"/>
              <a:buChar char="●"/>
            </a:pPr>
            <a:r>
              <a:rPr lang="en-GB" sz="2000">
                <a:solidFill>
                  <a:srgbClr val="000000"/>
                </a:solidFill>
                <a:latin typeface="Arial"/>
                <a:ea typeface="Arial"/>
                <a:cs typeface="Arial"/>
                <a:sym typeface="Arial"/>
              </a:rPr>
              <a:t>F1-Score: ~0.77 balanced precision recall.</a:t>
            </a:r>
            <a:endParaRPr sz="20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ct val="100000"/>
              <a:buFont typeface="Arial"/>
              <a:buChar char="●"/>
            </a:pPr>
            <a:r>
              <a:rPr lang="en-GB" sz="2000">
                <a:solidFill>
                  <a:srgbClr val="000000"/>
                </a:solidFill>
                <a:latin typeface="Arial"/>
                <a:ea typeface="Arial"/>
                <a:cs typeface="Arial"/>
                <a:sym typeface="Arial"/>
              </a:rPr>
              <a:t>Outperformed baseline decision tree by ~10% in F1 score.</a:t>
            </a:r>
            <a:endParaRPr sz="2000">
              <a:solidFill>
                <a:srgbClr val="000000"/>
              </a:solidFill>
              <a:latin typeface="Arial"/>
              <a:ea typeface="Arial"/>
              <a:cs typeface="Arial"/>
              <a:sym typeface="Arial"/>
            </a:endParaRPr>
          </a:p>
          <a:p>
            <a:pPr indent="0" lvl="0" marL="0" rtl="0" algn="l">
              <a:spcBef>
                <a:spcPts val="0"/>
              </a:spcBef>
              <a:spcAft>
                <a:spcPts val="1200"/>
              </a:spcAft>
              <a:buNone/>
            </a:pPr>
            <a:r>
              <a:t/>
            </a:r>
            <a:endParaRPr sz="1100">
              <a:solidFill>
                <a:srgbClr val="000000"/>
              </a:solidFill>
              <a:latin typeface="Arial"/>
              <a:ea typeface="Arial"/>
              <a:cs typeface="Arial"/>
              <a:sym typeface="Arial"/>
            </a:endParaRPr>
          </a:p>
        </p:txBody>
      </p:sp>
      <p:pic>
        <p:nvPicPr>
          <p:cNvPr id="134" name="Google Shape;134;p20" title="results.png"/>
          <p:cNvPicPr preferRelativeResize="0"/>
          <p:nvPr/>
        </p:nvPicPr>
        <p:blipFill>
          <a:blip r:embed="rId3">
            <a:alphaModFix/>
          </a:blip>
          <a:stretch>
            <a:fillRect/>
          </a:stretch>
        </p:blipFill>
        <p:spPr>
          <a:xfrm>
            <a:off x="5079975" y="2771550"/>
            <a:ext cx="3655475" cy="2084051"/>
          </a:xfrm>
          <a:prstGeom prst="rect">
            <a:avLst/>
          </a:prstGeom>
          <a:noFill/>
          <a:ln>
            <a:noFill/>
          </a:ln>
        </p:spPr>
      </p:pic>
      <p:pic>
        <p:nvPicPr>
          <p:cNvPr id="135" name="Google Shape;135;p20" title="Screenshot 2025-12-14 at 10.33.37 PM.png"/>
          <p:cNvPicPr preferRelativeResize="0"/>
          <p:nvPr/>
        </p:nvPicPr>
        <p:blipFill>
          <a:blip r:embed="rId4">
            <a:alphaModFix/>
          </a:blip>
          <a:stretch>
            <a:fillRect/>
          </a:stretch>
        </p:blipFill>
        <p:spPr>
          <a:xfrm>
            <a:off x="975575" y="3472550"/>
            <a:ext cx="2874127" cy="1329599"/>
          </a:xfrm>
          <a:prstGeom prst="rect">
            <a:avLst/>
          </a:prstGeom>
          <a:noFill/>
          <a:ln>
            <a:noFill/>
          </a:ln>
        </p:spPr>
      </p:pic>
      <p:sp>
        <p:nvSpPr>
          <p:cNvPr id="136" name="Google Shape;136;p20"/>
          <p:cNvSpPr txBox="1"/>
          <p:nvPr/>
        </p:nvSpPr>
        <p:spPr>
          <a:xfrm>
            <a:off x="4726850" y="1100900"/>
            <a:ext cx="4008600" cy="1329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GB" sz="1100">
                <a:solidFill>
                  <a:schemeClr val="dk2"/>
                </a:solidFill>
              </a:rPr>
              <a:t>The confusion matrix for the MLP based IDS on the NSL-KDD dataset shows 9,479 true negatives, 232 false positives, 4,685 false negatives, and 8,148 true positives, yielding 0.78 accuracy. This reflects moderate performance with high precision but low recall, likely from dataset imbalance. Improvements like oversampling could enhance detection of rare intrusions while maintaining alert accuracy.</a:t>
            </a:r>
            <a:endParaRPr sz="1100">
              <a:solidFill>
                <a:schemeClr val="dk2"/>
              </a:solidFill>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t>Conclusions</a:t>
            </a:r>
            <a:endParaRPr/>
          </a:p>
          <a:p>
            <a:pPr indent="0" lvl="0" marL="0" rtl="0" algn="l">
              <a:spcBef>
                <a:spcPts val="1200"/>
              </a:spcBef>
              <a:spcAft>
                <a:spcPts val="0"/>
              </a:spcAft>
              <a:buNone/>
            </a:pPr>
            <a:r>
              <a:t/>
            </a:r>
            <a:endParaRPr/>
          </a:p>
        </p:txBody>
      </p:sp>
      <p:sp>
        <p:nvSpPr>
          <p:cNvPr id="142" name="Google Shape;142;p21"/>
          <p:cNvSpPr txBox="1"/>
          <p:nvPr>
            <p:ph idx="1" type="body"/>
          </p:nvPr>
        </p:nvSpPr>
        <p:spPr>
          <a:xfrm>
            <a:off x="311700" y="1616850"/>
            <a:ext cx="8520600" cy="2322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MLP proved effective for IDS, achieving 0.78 accuracy on NSL-KDD with strong precision.</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Addresses key challenges like imbalance from preprocessing.</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Limitations: Lower recall indicates room for improvement in detecting rare attacks.</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Future Work: Integrate real time streaming add ensemble methods, test on newer datasets like CIC-IDS2017.</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en-GB" sz="1300">
                <a:solidFill>
                  <a:srgbClr val="000000"/>
                </a:solidFill>
                <a:latin typeface="Arial"/>
                <a:ea typeface="Arial"/>
                <a:cs typeface="Arial"/>
                <a:sym typeface="Arial"/>
              </a:rPr>
              <a:t>Overall: Demonstrates ML's potential in cybersecurity.</a:t>
            </a:r>
            <a:endParaRPr sz="1300">
              <a:solidFill>
                <a:srgbClr val="000000"/>
              </a:solidFill>
              <a:latin typeface="Arial"/>
              <a:ea typeface="Arial"/>
              <a:cs typeface="Arial"/>
              <a:sym typeface="Arial"/>
            </a:endParaRPr>
          </a:p>
          <a:p>
            <a:pPr indent="0" lvl="0" marL="457200" rtl="0" algn="l">
              <a:spcBef>
                <a:spcPts val="0"/>
              </a:spcBef>
              <a:spcAft>
                <a:spcPts val="1200"/>
              </a:spcAft>
              <a:buNone/>
            </a:pPr>
            <a:r>
              <a:t/>
            </a:r>
            <a:endParaRPr sz="13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t>References</a:t>
            </a:r>
            <a:endParaRPr/>
          </a:p>
          <a:p>
            <a:pPr indent="0" lvl="0" marL="0" rtl="0" algn="l">
              <a:spcBef>
                <a:spcPts val="1200"/>
              </a:spcBef>
              <a:spcAft>
                <a:spcPts val="0"/>
              </a:spcAft>
              <a:buNone/>
            </a:pPr>
            <a:r>
              <a:t/>
            </a:r>
            <a:endParaRPr/>
          </a:p>
        </p:txBody>
      </p:sp>
      <p:sp>
        <p:nvSpPr>
          <p:cNvPr id="148" name="Google Shape;148;p22"/>
          <p:cNvSpPr txBox="1"/>
          <p:nvPr>
            <p:ph idx="1" type="body"/>
          </p:nvPr>
        </p:nvSpPr>
        <p:spPr>
          <a:xfrm>
            <a:off x="311700" y="1229875"/>
            <a:ext cx="8520600" cy="33390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rgbClr val="000000"/>
              </a:buClr>
              <a:buSzPts val="1800"/>
              <a:buFont typeface="Arial"/>
              <a:buAutoNum type="arabicPeriod"/>
            </a:pPr>
            <a:r>
              <a:rPr lang="en-GB">
                <a:solidFill>
                  <a:srgbClr val="000000"/>
                </a:solidFill>
                <a:latin typeface="Arial"/>
                <a:ea typeface="Arial"/>
                <a:cs typeface="Arial"/>
                <a:sym typeface="Arial"/>
              </a:rPr>
              <a:t>"A Detailed Analysis of the KDD CUP 99 Data Set" by Tavallaee et al. (2009)</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en-GB">
                <a:solidFill>
                  <a:srgbClr val="000000"/>
                </a:solidFill>
                <a:latin typeface="Arial"/>
                <a:ea typeface="Arial"/>
                <a:cs typeface="Arial"/>
                <a:sym typeface="Arial"/>
              </a:rPr>
              <a:t>"Intrusion Detection with Neural Networks" by Moradi and Zulkernine (2004)</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en-GB">
                <a:solidFill>
                  <a:srgbClr val="000000"/>
                </a:solidFill>
                <a:latin typeface="Arial"/>
                <a:ea typeface="Arial"/>
                <a:cs typeface="Arial"/>
                <a:sym typeface="Arial"/>
              </a:rPr>
              <a:t>"Deep Learning Approaches for Intrusion Detection" by Ferrag et al. (2020)</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en-GB">
                <a:solidFill>
                  <a:srgbClr val="000000"/>
                </a:solidFill>
                <a:latin typeface="Arial"/>
                <a:ea typeface="Arial"/>
                <a:cs typeface="Arial"/>
                <a:sym typeface="Arial"/>
              </a:rPr>
              <a:t>"NSL-KDD Dataset for Network Intrusion Detection" by Tavallaee et al. (2009)</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AutoNum type="arabicPeriod"/>
            </a:pPr>
            <a:r>
              <a:rPr lang="en-GB">
                <a:solidFill>
                  <a:srgbClr val="000000"/>
                </a:solidFill>
                <a:latin typeface="Arial"/>
                <a:ea typeface="Arial"/>
                <a:cs typeface="Arial"/>
                <a:sym typeface="Arial"/>
              </a:rPr>
              <a:t>"Machine Learning in Cybersecurity" by Apruzzese et al. (2018)</a:t>
            </a:r>
            <a:endParaRPr>
              <a:solidFill>
                <a:srgbClr val="000000"/>
              </a:solidFill>
              <a:latin typeface="Arial"/>
              <a:ea typeface="Arial"/>
              <a:cs typeface="Arial"/>
              <a:sym typeface="Arial"/>
            </a:endParaRPr>
          </a:p>
          <a:p>
            <a:pPr indent="0" lvl="0" marL="0" rtl="0" algn="l">
              <a:spcBef>
                <a:spcPts val="120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1200"/>
              </a:spcAft>
              <a:buNone/>
            </a:pPr>
            <a:r>
              <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